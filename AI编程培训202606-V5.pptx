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webp" ContentType="image/webp"/>
  <Override PartName="/ppt/media/image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256" r:id="rId3"/>
    <p:sldId id="257" r:id="rId4"/>
    <p:sldId id="258" r:id="rId5"/>
    <p:sldId id="259" r:id="rId7"/>
    <p:sldId id="271" r:id="rId8"/>
    <p:sldId id="272" r:id="rId9"/>
    <p:sldId id="260" r:id="rId10"/>
    <p:sldId id="265" r:id="rId11"/>
    <p:sldId id="270" r:id="rId12"/>
    <p:sldId id="273" r:id="rId13"/>
    <p:sldId id="261" r:id="rId14"/>
    <p:sldId id="262" r:id="rId15"/>
    <p:sldId id="263" r:id="rId16"/>
    <p:sldId id="264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3"/>
        <p:guide pos="39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ebp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web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9144000" cy="1556385"/>
          </a:xfrm>
        </p:spPr>
        <p:txBody>
          <a:bodyPr/>
          <a:p>
            <a:r>
              <a:rPr lang="en-US" altLang="zh-CN"/>
              <a:t>AI</a:t>
            </a:r>
            <a:r>
              <a:rPr lang="zh-CN" altLang="en-US"/>
              <a:t>编程</a:t>
            </a:r>
            <a:r>
              <a:rPr lang="zh-CN" altLang="en-US"/>
              <a:t>实战培训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2026.06</a:t>
            </a:r>
            <a:endParaRPr lang="en-US" altLang="zh-CN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/>
        </p:nvPicPr>
        <p:blipFill>
          <a:blip r:embed="rId1"/>
          <a:srcRect l="15499" t="15059" r="16041" b="10145"/>
          <a:stretch>
            <a:fillRect/>
          </a:stretch>
        </p:blipFill>
        <p:spPr>
          <a:xfrm>
            <a:off x="7624445" y="857885"/>
            <a:ext cx="3612515" cy="3441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瀑布式编程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410845" y="1118870"/>
            <a:ext cx="7155180" cy="52000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7861300" y="4397375"/>
            <a:ext cx="1002665" cy="3879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需求分析</a:t>
            </a:r>
            <a:endParaRPr lang="zh-CN" altLang="en-US" sz="1400"/>
          </a:p>
        </p:txBody>
      </p:sp>
      <p:sp>
        <p:nvSpPr>
          <p:cNvPr id="4" name="矩形 3"/>
          <p:cNvSpPr/>
          <p:nvPr/>
        </p:nvSpPr>
        <p:spPr>
          <a:xfrm>
            <a:off x="8500745" y="5010785"/>
            <a:ext cx="1002665" cy="3879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软件</a:t>
            </a:r>
            <a:r>
              <a:rPr lang="zh-CN" altLang="en-US" sz="1400"/>
              <a:t>设计</a:t>
            </a:r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9124950" y="5624195"/>
            <a:ext cx="1002665" cy="3879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软件</a:t>
            </a:r>
            <a:r>
              <a:rPr lang="zh-CN" altLang="en-US" sz="1400"/>
              <a:t>编码</a:t>
            </a:r>
            <a:endParaRPr lang="zh-CN" altLang="en-US" sz="1400"/>
          </a:p>
        </p:txBody>
      </p:sp>
      <p:sp>
        <p:nvSpPr>
          <p:cNvPr id="6" name="矩形 5"/>
          <p:cNvSpPr/>
          <p:nvPr/>
        </p:nvSpPr>
        <p:spPr>
          <a:xfrm>
            <a:off x="9829800" y="6237605"/>
            <a:ext cx="1002665" cy="3879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单元</a:t>
            </a:r>
            <a:r>
              <a:rPr lang="zh-CN" altLang="en-US" sz="1400"/>
              <a:t>测试</a:t>
            </a:r>
            <a:endParaRPr lang="zh-CN" altLang="en-US" sz="1400"/>
          </a:p>
        </p:txBody>
      </p:sp>
      <p:cxnSp>
        <p:nvCxnSpPr>
          <p:cNvPr id="7" name="肘形连接符 6"/>
          <p:cNvCxnSpPr>
            <a:stCxn id="3" idx="3"/>
            <a:endCxn id="4" idx="0"/>
          </p:cNvCxnSpPr>
          <p:nvPr/>
        </p:nvCxnSpPr>
        <p:spPr>
          <a:xfrm>
            <a:off x="8863965" y="4591685"/>
            <a:ext cx="138430" cy="41910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4" idx="1"/>
            <a:endCxn id="3" idx="2"/>
          </p:cNvCxnSpPr>
          <p:nvPr/>
        </p:nvCxnSpPr>
        <p:spPr>
          <a:xfrm rot="10800000">
            <a:off x="8362315" y="4784725"/>
            <a:ext cx="137795" cy="41973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4" idx="3"/>
            <a:endCxn id="5" idx="0"/>
          </p:cNvCxnSpPr>
          <p:nvPr/>
        </p:nvCxnSpPr>
        <p:spPr>
          <a:xfrm>
            <a:off x="9503410" y="5205095"/>
            <a:ext cx="123190" cy="41910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5" idx="3"/>
          </p:cNvCxnSpPr>
          <p:nvPr/>
        </p:nvCxnSpPr>
        <p:spPr>
          <a:xfrm>
            <a:off x="10127615" y="5818505"/>
            <a:ext cx="116840" cy="39433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5" idx="1"/>
            <a:endCxn id="4" idx="2"/>
          </p:cNvCxnSpPr>
          <p:nvPr/>
        </p:nvCxnSpPr>
        <p:spPr>
          <a:xfrm rot="10800000">
            <a:off x="9001760" y="5398135"/>
            <a:ext cx="122555" cy="41973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6" idx="1"/>
            <a:endCxn id="5" idx="2"/>
          </p:cNvCxnSpPr>
          <p:nvPr/>
        </p:nvCxnSpPr>
        <p:spPr>
          <a:xfrm rot="10800000">
            <a:off x="9626600" y="6011545"/>
            <a:ext cx="203200" cy="41973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3" idx="3"/>
          </p:cNvCxnSpPr>
          <p:nvPr/>
        </p:nvCxnSpPr>
        <p:spPr>
          <a:xfrm>
            <a:off x="8863965" y="4591685"/>
            <a:ext cx="883285" cy="102870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3" idx="3"/>
          </p:cNvCxnSpPr>
          <p:nvPr/>
        </p:nvCxnSpPr>
        <p:spPr>
          <a:xfrm>
            <a:off x="8863965" y="4591685"/>
            <a:ext cx="1622425" cy="162877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/>
          <p:nvPr/>
        </p:nvCxnSpPr>
        <p:spPr>
          <a:xfrm rot="16200000" flipV="1">
            <a:off x="8834120" y="5449570"/>
            <a:ext cx="1036955" cy="909320"/>
          </a:xfrm>
          <a:prstGeom prst="bentConnector3">
            <a:avLst>
              <a:gd name="adj1" fmla="val -2173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6" idx="1"/>
          </p:cNvCxnSpPr>
          <p:nvPr/>
        </p:nvCxnSpPr>
        <p:spPr>
          <a:xfrm rot="10800000">
            <a:off x="8150860" y="4785995"/>
            <a:ext cx="1678305" cy="1645920"/>
          </a:xfrm>
          <a:prstGeom prst="bentConnector3">
            <a:avLst>
              <a:gd name="adj1" fmla="val 100151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17"/>
          <p:cNvSpPr/>
          <p:nvPr/>
        </p:nvSpPr>
        <p:spPr>
          <a:xfrm>
            <a:off x="6293485" y="1953260"/>
            <a:ext cx="774700" cy="607695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五边形 18"/>
          <p:cNvSpPr/>
          <p:nvPr/>
        </p:nvSpPr>
        <p:spPr>
          <a:xfrm rot="5400000">
            <a:off x="7974965" y="3480435"/>
            <a:ext cx="774700" cy="607695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肘形连接符 13"/>
          <p:cNvCxnSpPr>
            <a:stCxn id="4" idx="3"/>
          </p:cNvCxnSpPr>
          <p:nvPr/>
        </p:nvCxnSpPr>
        <p:spPr>
          <a:xfrm>
            <a:off x="9503410" y="5205095"/>
            <a:ext cx="865505" cy="100774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5" idx="1"/>
          </p:cNvCxnSpPr>
          <p:nvPr/>
        </p:nvCxnSpPr>
        <p:spPr>
          <a:xfrm rot="10800000">
            <a:off x="8261350" y="4770755"/>
            <a:ext cx="863600" cy="104711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软件开发</a:t>
            </a:r>
            <a:r>
              <a:rPr lang="zh-CN" altLang="en-US"/>
              <a:t>全套输出文档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57775" y="1818640"/>
            <a:ext cx="270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 </a:t>
            </a:r>
            <a:r>
              <a:rPr lang="zh-CN" altLang="en-US"/>
              <a:t>业务需求规格说明</a:t>
            </a:r>
            <a:r>
              <a:rPr lang="zh-CN" altLang="en-US"/>
              <a:t>书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3885" y="1281430"/>
            <a:ext cx="2273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业务需求头脑</a:t>
            </a:r>
            <a:r>
              <a:rPr lang="zh-CN" altLang="en-US"/>
              <a:t>风暴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5155" y="2434590"/>
            <a:ext cx="3215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 </a:t>
            </a:r>
            <a:r>
              <a:rPr lang="zh-CN" altLang="en-US"/>
              <a:t>业务需求问题澄清确认</a:t>
            </a:r>
            <a:r>
              <a:rPr lang="zh-CN" altLang="en-US"/>
              <a:t>清单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5155" y="2042160"/>
            <a:ext cx="3215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业务需求问题分析及</a:t>
            </a:r>
            <a:r>
              <a:rPr lang="zh-CN" altLang="en-US"/>
              <a:t>建议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74995" y="3305810"/>
            <a:ext cx="2519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7.</a:t>
            </a:r>
            <a:r>
              <a:rPr lang="zh-CN" altLang="en-US"/>
              <a:t>软件需求规格说明</a:t>
            </a:r>
            <a:r>
              <a:rPr lang="zh-CN" altLang="en-US"/>
              <a:t>书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14870" y="981075"/>
            <a:ext cx="344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 </a:t>
            </a:r>
            <a:r>
              <a:rPr lang="zh-CN" altLang="en-US"/>
              <a:t>业务需求规格说明</a:t>
            </a:r>
            <a:r>
              <a:rPr lang="zh-CN" altLang="en-US"/>
              <a:t>书评审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35940" y="1200150"/>
            <a:ext cx="3284220" cy="168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86225" y="1852930"/>
            <a:ext cx="779780" cy="3340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58410" y="1649730"/>
            <a:ext cx="257175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/>
        </p:nvSpPr>
        <p:spPr>
          <a:xfrm>
            <a:off x="6168390" y="2498725"/>
            <a:ext cx="340995" cy="3841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732780" y="3113405"/>
            <a:ext cx="2386965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肘形连接符 14"/>
          <p:cNvCxnSpPr>
            <a:stCxn id="12" idx="0"/>
            <a:endCxn id="12" idx="3"/>
          </p:cNvCxnSpPr>
          <p:nvPr/>
        </p:nvCxnSpPr>
        <p:spPr>
          <a:xfrm rot="16200000" flipH="1">
            <a:off x="6798945" y="1195070"/>
            <a:ext cx="376555" cy="1285875"/>
          </a:xfrm>
          <a:prstGeom prst="bentConnector4">
            <a:avLst>
              <a:gd name="adj1" fmla="val -63238"/>
              <a:gd name="adj2" fmla="val 11851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14" idx="0"/>
            <a:endCxn id="14" idx="3"/>
          </p:cNvCxnSpPr>
          <p:nvPr/>
        </p:nvCxnSpPr>
        <p:spPr>
          <a:xfrm rot="16200000" flipH="1">
            <a:off x="7334885" y="2705100"/>
            <a:ext cx="376555" cy="1193165"/>
          </a:xfrm>
          <a:prstGeom prst="bentConnector4">
            <a:avLst>
              <a:gd name="adj1" fmla="val -63238"/>
              <a:gd name="adj2" fmla="val 11995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296150" y="2504440"/>
            <a:ext cx="354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8. </a:t>
            </a:r>
            <a:r>
              <a:rPr lang="zh-CN" altLang="en-US"/>
              <a:t>软件需求规格说明</a:t>
            </a:r>
            <a:r>
              <a:rPr lang="zh-CN" altLang="en-US"/>
              <a:t>书评审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6167755" y="3989070"/>
            <a:ext cx="340995" cy="3841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292725" y="4769485"/>
            <a:ext cx="2273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9. </a:t>
            </a:r>
            <a:r>
              <a:rPr lang="zh-CN" altLang="en-US"/>
              <a:t>软件</a:t>
            </a:r>
            <a:r>
              <a:rPr lang="zh-CN" altLang="en-US"/>
              <a:t>设计说明</a:t>
            </a:r>
            <a:r>
              <a:rPr lang="zh-CN" altLang="en-US"/>
              <a:t>书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194935" y="4577080"/>
            <a:ext cx="2567305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肘形连接符 20"/>
          <p:cNvCxnSpPr>
            <a:stCxn id="20" idx="0"/>
            <a:endCxn id="20" idx="3"/>
          </p:cNvCxnSpPr>
          <p:nvPr/>
        </p:nvCxnSpPr>
        <p:spPr>
          <a:xfrm rot="16200000" flipH="1">
            <a:off x="6932295" y="4123690"/>
            <a:ext cx="376555" cy="1283335"/>
          </a:xfrm>
          <a:prstGeom prst="bentConnector4">
            <a:avLst>
              <a:gd name="adj1" fmla="val -63238"/>
              <a:gd name="adj2" fmla="val 11855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296150" y="3944620"/>
            <a:ext cx="313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10. </a:t>
            </a:r>
            <a:r>
              <a:rPr lang="zh-CN" altLang="en-US"/>
              <a:t>软件</a:t>
            </a:r>
            <a:r>
              <a:rPr lang="zh-CN" altLang="en-US"/>
              <a:t>设计说明</a:t>
            </a:r>
            <a:r>
              <a:rPr lang="zh-CN" altLang="en-US"/>
              <a:t>书评审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670810" y="4769485"/>
            <a:ext cx="190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11.</a:t>
            </a:r>
            <a:r>
              <a:rPr lang="zh-CN" altLang="en-US"/>
              <a:t>测试用例</a:t>
            </a:r>
            <a:r>
              <a:rPr lang="zh-CN" altLang="en-US"/>
              <a:t>文档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765425" y="4577080"/>
            <a:ext cx="1814195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左箭头 25"/>
          <p:cNvSpPr/>
          <p:nvPr/>
        </p:nvSpPr>
        <p:spPr>
          <a:xfrm>
            <a:off x="4623435" y="4773930"/>
            <a:ext cx="434975" cy="3263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932555" y="5908675"/>
            <a:ext cx="209550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008755" y="6101080"/>
            <a:ext cx="208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软件代码编写</a:t>
            </a:r>
            <a:r>
              <a:rPr lang="zh-CN" altLang="en-US"/>
              <a:t>计划</a:t>
            </a:r>
            <a:endParaRPr lang="zh-CN" altLang="en-US"/>
          </a:p>
        </p:txBody>
      </p:sp>
      <p:sp>
        <p:nvSpPr>
          <p:cNvPr id="34" name="下箭头 33"/>
          <p:cNvSpPr/>
          <p:nvPr/>
        </p:nvSpPr>
        <p:spPr>
          <a:xfrm>
            <a:off x="3931920" y="5395595"/>
            <a:ext cx="246380" cy="3994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/>
        </p:nvSpPr>
        <p:spPr>
          <a:xfrm>
            <a:off x="5334000" y="5395595"/>
            <a:ext cx="246380" cy="3994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12115" y="4769485"/>
            <a:ext cx="1652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单元测试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545465" y="4577080"/>
            <a:ext cx="146304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左箭头 41"/>
          <p:cNvSpPr/>
          <p:nvPr/>
        </p:nvSpPr>
        <p:spPr>
          <a:xfrm>
            <a:off x="2012315" y="4773930"/>
            <a:ext cx="434975" cy="3263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43560" y="6101080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集成测试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23875" y="5908675"/>
            <a:ext cx="164592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132570" y="4747895"/>
            <a:ext cx="195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13. </a:t>
            </a:r>
            <a:r>
              <a:rPr lang="zh-CN" altLang="en-US"/>
              <a:t>环境准备</a:t>
            </a:r>
            <a:r>
              <a:rPr lang="zh-CN" altLang="en-US"/>
              <a:t>手册</a:t>
            </a:r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132570" y="4555490"/>
            <a:ext cx="1953895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562215" y="6101080"/>
            <a:ext cx="1971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14. </a:t>
            </a:r>
            <a:r>
              <a:rPr lang="zh-CN" altLang="en-US"/>
              <a:t>用户使用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7562850" y="5908675"/>
            <a:ext cx="192659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167755" y="6101080"/>
            <a:ext cx="1129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开发</a:t>
            </a:r>
            <a:r>
              <a:rPr lang="zh-CN" altLang="en-US"/>
              <a:t>笔记</a:t>
            </a: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169025" y="5908675"/>
            <a:ext cx="1127125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肘形连接符 24"/>
          <p:cNvCxnSpPr/>
          <p:nvPr/>
        </p:nvCxnSpPr>
        <p:spPr>
          <a:xfrm rot="5400000" flipV="1">
            <a:off x="4445635" y="3464560"/>
            <a:ext cx="2129155" cy="317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rot="5400000">
            <a:off x="3431540" y="2812415"/>
            <a:ext cx="2190750" cy="1336675"/>
          </a:xfrm>
          <a:prstGeom prst="bentConnector3">
            <a:avLst>
              <a:gd name="adj1" fmla="val 45028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/>
          <p:nvPr/>
        </p:nvCxnSpPr>
        <p:spPr>
          <a:xfrm rot="10800000" flipV="1">
            <a:off x="4128135" y="3517900"/>
            <a:ext cx="1588135" cy="1032510"/>
          </a:xfrm>
          <a:prstGeom prst="bentConnector3">
            <a:avLst>
              <a:gd name="adj1" fmla="val 100239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右箭头 30"/>
          <p:cNvSpPr/>
          <p:nvPr/>
        </p:nvSpPr>
        <p:spPr>
          <a:xfrm>
            <a:off x="8193405" y="4953635"/>
            <a:ext cx="632460" cy="3340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592310" y="6101080"/>
            <a:ext cx="2110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15. </a:t>
            </a:r>
            <a:r>
              <a:rPr lang="zh-CN" altLang="en-US"/>
              <a:t>项目开发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658985" y="5908675"/>
            <a:ext cx="202692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05155" y="1673860"/>
            <a:ext cx="2767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. </a:t>
            </a:r>
            <a:r>
              <a:rPr lang="zh-CN" altLang="en-US">
                <a:sym typeface="+mn-ea"/>
              </a:rPr>
              <a:t>业务需求问题澄清清单</a:t>
            </a:r>
            <a:endParaRPr lang="zh-CN" altLang="en-US"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78485" y="3428365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需求</a:t>
            </a:r>
            <a:r>
              <a:rPr lang="zh-CN" altLang="en-US"/>
              <a:t>变更单</a:t>
            </a:r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535940" y="3159760"/>
            <a:ext cx="164592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2336800" y="5908675"/>
            <a:ext cx="1427480" cy="7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169795" y="6101080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BUG</a:t>
            </a:r>
            <a:r>
              <a:rPr lang="zh-CN" altLang="en-US"/>
              <a:t>修复单</a:t>
            </a:r>
            <a:endParaRPr lang="zh-CN" altLang="en-US"/>
          </a:p>
        </p:txBody>
      </p:sp>
      <p:cxnSp>
        <p:nvCxnSpPr>
          <p:cNvPr id="59" name="肘形连接符 58"/>
          <p:cNvCxnSpPr/>
          <p:nvPr/>
        </p:nvCxnSpPr>
        <p:spPr>
          <a:xfrm flipV="1">
            <a:off x="2216785" y="2312670"/>
            <a:ext cx="2817495" cy="862965"/>
          </a:xfrm>
          <a:prstGeom prst="bentConnector3">
            <a:avLst>
              <a:gd name="adj1" fmla="val 6975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56" idx="3"/>
          </p:cNvCxnSpPr>
          <p:nvPr/>
        </p:nvCxnSpPr>
        <p:spPr>
          <a:xfrm>
            <a:off x="2181860" y="3536315"/>
            <a:ext cx="3525520" cy="215265"/>
          </a:xfrm>
          <a:prstGeom prst="bentConnector3">
            <a:avLst>
              <a:gd name="adj1" fmla="val 4045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连接符 60"/>
          <p:cNvCxnSpPr>
            <a:stCxn id="56" idx="2"/>
            <a:endCxn id="24" idx="0"/>
          </p:cNvCxnSpPr>
          <p:nvPr/>
        </p:nvCxnSpPr>
        <p:spPr>
          <a:xfrm rot="5400000" flipV="1">
            <a:off x="2183765" y="3088005"/>
            <a:ext cx="664210" cy="231394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>
            <a:off x="2202180" y="3849370"/>
            <a:ext cx="3066415" cy="695325"/>
          </a:xfrm>
          <a:prstGeom prst="bentConnector3">
            <a:avLst>
              <a:gd name="adj1" fmla="val 99896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24" idx="2"/>
            <a:endCxn id="24" idx="1"/>
          </p:cNvCxnSpPr>
          <p:nvPr/>
        </p:nvCxnSpPr>
        <p:spPr>
          <a:xfrm rot="5400000" flipH="1">
            <a:off x="3030855" y="4687570"/>
            <a:ext cx="376555" cy="907415"/>
          </a:xfrm>
          <a:prstGeom prst="bentConnector4">
            <a:avLst>
              <a:gd name="adj1" fmla="val -47723"/>
              <a:gd name="adj2" fmla="val 126242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412750" y="5478780"/>
            <a:ext cx="240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12. </a:t>
            </a:r>
            <a:r>
              <a:rPr lang="zh-CN" altLang="en-US"/>
              <a:t>测试用例评审</a:t>
            </a:r>
            <a:r>
              <a:rPr lang="zh-CN" altLang="en-US"/>
              <a:t>报告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编程</a:t>
            </a:r>
            <a:r>
              <a:rPr lang="zh-CN" altLang="en-US"/>
              <a:t>大模型是</a:t>
            </a:r>
            <a:r>
              <a:rPr lang="zh-CN" altLang="en-US"/>
              <a:t>什么？</a:t>
            </a:r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659890" y="1699260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态度极好的</a:t>
            </a:r>
            <a:r>
              <a:rPr lang="zh-CN" altLang="en-US"/>
              <a:t>实习生</a:t>
            </a:r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034790" y="1699260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知识全面的百科</a:t>
            </a:r>
            <a:r>
              <a:rPr lang="zh-CN" altLang="en-US"/>
              <a:t>全书</a:t>
            </a:r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6337300" y="1699260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经常遗忘的</a:t>
            </a:r>
            <a:r>
              <a:rPr lang="zh-CN" altLang="en-US"/>
              <a:t>迷糊蛋</a:t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8857615" y="1699260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偷奸耍滑的</a:t>
            </a:r>
            <a:r>
              <a:rPr lang="zh-CN" altLang="en-US"/>
              <a:t>投机者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8330" y="3893820"/>
            <a:ext cx="3426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开发者的</a:t>
            </a:r>
            <a:r>
              <a:rPr lang="zh-CN" altLang="en-US"/>
              <a:t>定位</a:t>
            </a:r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2734945" y="4479925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定</a:t>
            </a:r>
            <a:r>
              <a:rPr lang="zh-CN" altLang="en-US"/>
              <a:t>义者</a:t>
            </a:r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146675" y="4479925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发令</a:t>
            </a:r>
            <a:r>
              <a:rPr lang="zh-CN" altLang="en-US"/>
              <a:t>者</a:t>
            </a:r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558405" y="4479925"/>
            <a:ext cx="1516380" cy="1428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审查者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08330" y="6159500"/>
            <a:ext cx="377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你能懂多少，决定了</a:t>
            </a:r>
            <a:r>
              <a:rPr lang="en-US" altLang="zh-CN"/>
              <a:t>AI</a:t>
            </a:r>
            <a:r>
              <a:rPr lang="zh-CN" altLang="en-US"/>
              <a:t>能帮你</a:t>
            </a:r>
            <a:r>
              <a:rPr lang="zh-CN" altLang="en-US"/>
              <a:t>多少。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4209415" y="3197225"/>
            <a:ext cx="377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正确的执行</a:t>
            </a:r>
            <a:r>
              <a:rPr lang="zh-CN" altLang="en-US"/>
              <a:t>错误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970780" y="6159500"/>
            <a:ext cx="6504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AI</a:t>
            </a:r>
            <a:r>
              <a:rPr lang="zh-CN" altLang="en-US"/>
              <a:t>编程是否</a:t>
            </a:r>
            <a:r>
              <a:rPr lang="zh-CN" altLang="en-US"/>
              <a:t>靠谱取决于你有没有能力审核</a:t>
            </a:r>
            <a:r>
              <a:rPr lang="zh-CN" altLang="en-US"/>
              <a:t>它、判断它、修正</a:t>
            </a:r>
            <a:r>
              <a:rPr lang="zh-CN" altLang="en-US"/>
              <a:t>它。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1216025" y="3405505"/>
            <a:ext cx="4053840" cy="11245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58460" y="2620010"/>
            <a:ext cx="2371090" cy="191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软件开发的核心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91970" y="1518920"/>
            <a:ext cx="8745220" cy="505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2000"/>
              <a:t>设计、架构、约束、测试、调试、维护——这些才是软件工程的核心工作</a:t>
            </a:r>
            <a:endParaRPr lang="zh-CN" altLang="en-US" sz="2000"/>
          </a:p>
          <a:p>
            <a:pPr algn="ctr"/>
            <a:r>
              <a:rPr lang="en-US" altLang="zh-CN" sz="2000"/>
              <a:t>                                                                                      </a:t>
            </a:r>
            <a:endParaRPr lang="en-US" altLang="zh-CN" sz="2000"/>
          </a:p>
          <a:p>
            <a:pPr algn="ctr"/>
            <a:endParaRPr lang="en-US" altLang="zh-CN" sz="2000"/>
          </a:p>
        </p:txBody>
      </p:sp>
      <p:sp>
        <p:nvSpPr>
          <p:cNvPr id="5" name="圆角矩形 4"/>
          <p:cNvSpPr/>
          <p:nvPr/>
        </p:nvSpPr>
        <p:spPr>
          <a:xfrm>
            <a:off x="136017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81051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架构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6085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约束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71119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编码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16153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61187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调试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0062210" y="3005455"/>
            <a:ext cx="914400" cy="6286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维护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17345" y="5565775"/>
            <a:ext cx="8568690" cy="952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"revolution, yes. end of programming, no."    </a:t>
            </a:r>
            <a:endParaRPr lang="en-US" altLang="zh-CN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zh-CN" sz="2800">
                <a:solidFill>
                  <a:schemeClr val="accent4"/>
                </a:solidFill>
                <a:sym typeface="+mn-ea"/>
              </a:rPr>
              <a:t>                                                          </a:t>
            </a:r>
            <a:r>
              <a:rPr lang="en-US" altLang="zh-CN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-- Linus Torvalds</a:t>
            </a:r>
            <a:endParaRPr lang="en-US" altLang="zh-CN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29325" y="4131310"/>
            <a:ext cx="1229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已</a:t>
            </a:r>
            <a:r>
              <a:rPr lang="zh-CN" altLang="en-US" sz="2000">
                <a:sym typeface="+mn-ea"/>
              </a:rPr>
              <a:t>占领</a:t>
            </a:r>
            <a:endParaRPr lang="zh-CN" altLang="en-US" sz="20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24150" y="4131310"/>
            <a:ext cx="1229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在辅助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编程的</a:t>
            </a:r>
            <a:r>
              <a:rPr lang="zh-CN" altLang="en-US"/>
              <a:t>流派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4090670"/>
            <a:ext cx="4581525" cy="23755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7350" y="4159885"/>
            <a:ext cx="4697095" cy="22155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zh-CN" altLang="en-US" sz="1000" b="1">
                <a:solidFill>
                  <a:srgbClr val="FF0000"/>
                </a:solidFill>
              </a:rPr>
              <a:t>OpenSpec 解决的是知识资产问题</a:t>
            </a:r>
            <a:r>
              <a:rPr lang="en-US" altLang="zh-CN" sz="1000" b="1">
                <a:solidFill>
                  <a:srgbClr val="FF0000"/>
                </a:solidFill>
              </a:rPr>
              <a:t>(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规格如何沉淀成代码库里的长期资产</a:t>
            </a:r>
            <a:r>
              <a:rPr lang="en-US" altLang="zh-CN" sz="1000" b="1">
                <a:solidFill>
                  <a:srgbClr val="FF0000"/>
                </a:solidFill>
              </a:rPr>
              <a:t>)</a:t>
            </a:r>
            <a:r>
              <a:rPr lang="zh-CN" altLang="en-US" sz="1000" b="1">
                <a:solidFill>
                  <a:srgbClr val="FF0000"/>
                </a:solidFill>
              </a:rPr>
              <a:t>。</a:t>
            </a:r>
            <a:endParaRPr lang="zh-CN" altLang="en-US" sz="1000" b="1">
              <a:solidFill>
                <a:srgbClr val="FF0000"/>
              </a:solidFill>
            </a:endParaRPr>
          </a:p>
          <a:p>
            <a:endParaRPr lang="zh-CN" altLang="en-US" sz="900"/>
          </a:p>
          <a:p>
            <a:r>
              <a:rPr lang="zh-CN" altLang="en-US" sz="900"/>
              <a:t>团队讨论过什么，为什么这样设计，需求如何变化，规格如何演进，这些东西不能只散落在聊天记录里，而要进入代码仓库。</a:t>
            </a:r>
            <a:endParaRPr lang="zh-CN" altLang="en-US" sz="900"/>
          </a:p>
          <a:p>
            <a:endParaRPr lang="zh-CN" altLang="en-US" sz="900"/>
          </a:p>
          <a:p>
            <a:endParaRPr lang="zh-CN" altLang="en-US" sz="900"/>
          </a:p>
          <a:p>
            <a:r>
              <a:rPr lang="zh-CN" altLang="en-US" sz="1000" b="1">
                <a:solidFill>
                  <a:srgbClr val="FF0000"/>
                </a:solidFill>
              </a:rPr>
              <a:t>Spec Kit 解决的是流程标准问题</a:t>
            </a:r>
            <a:r>
              <a:rPr lang="en-US" altLang="zh-CN" sz="1000" b="1">
                <a:solidFill>
                  <a:srgbClr val="FF0000"/>
                </a:solidFill>
              </a:rPr>
              <a:t>(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团队如何 Spec-Driven Development</a:t>
            </a:r>
            <a:r>
              <a:rPr lang="en-US" altLang="zh-CN" sz="1000" b="1">
                <a:solidFill>
                  <a:srgbClr val="FF0000"/>
                </a:solidFill>
              </a:rPr>
              <a:t>)</a:t>
            </a:r>
            <a:r>
              <a:rPr lang="zh-CN" altLang="en-US" sz="1000" b="1">
                <a:solidFill>
                  <a:srgbClr val="FF0000"/>
                </a:solidFill>
              </a:rPr>
              <a:t>。</a:t>
            </a:r>
            <a:endParaRPr lang="zh-CN" altLang="en-US" sz="1000" b="1">
              <a:solidFill>
                <a:srgbClr val="FF0000"/>
              </a:solidFill>
            </a:endParaRPr>
          </a:p>
          <a:p>
            <a:endParaRPr lang="zh-CN" altLang="en-US" sz="900"/>
          </a:p>
          <a:p>
            <a:r>
              <a:rPr lang="zh-CN" altLang="en-US" sz="900"/>
              <a:t>团队不能每个人用一套 AI 编程方式，而应该有统一的需求、计划、任务和实现流程。</a:t>
            </a:r>
            <a:endParaRPr lang="zh-CN" altLang="en-US" sz="900"/>
          </a:p>
          <a:p>
            <a:endParaRPr lang="zh-CN" altLang="en-US" sz="900"/>
          </a:p>
          <a:p>
            <a:endParaRPr lang="zh-CN" altLang="en-US" sz="1000" b="1">
              <a:solidFill>
                <a:srgbClr val="FF0000"/>
              </a:solidFill>
            </a:endParaRPr>
          </a:p>
          <a:p>
            <a:endParaRPr lang="zh-CN" altLang="en-US" sz="1000" b="1">
              <a:solidFill>
                <a:srgbClr val="FF0000"/>
              </a:solidFill>
            </a:endParaRPr>
          </a:p>
          <a:p>
            <a:r>
              <a:rPr lang="zh-CN" altLang="en-US" sz="1000" b="1">
                <a:solidFill>
                  <a:srgbClr val="FF0000"/>
                </a:solidFill>
              </a:rPr>
              <a:t>Superpowers 解决的是代理行为问题</a:t>
            </a:r>
            <a:r>
              <a:rPr lang="en-US" altLang="zh-CN" sz="1000" b="1">
                <a:solidFill>
                  <a:srgbClr val="FF0000"/>
                </a:solidFill>
              </a:rPr>
              <a:t>(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如何避免乱想、乱改、跳步和虚假完成</a:t>
            </a:r>
            <a:r>
              <a:rPr lang="en-US" altLang="zh-CN" sz="1000" b="1">
                <a:solidFill>
                  <a:srgbClr val="FF0000"/>
                </a:solidFill>
              </a:rPr>
              <a:t>)</a:t>
            </a:r>
            <a:r>
              <a:rPr lang="zh-CN" altLang="en-US" sz="1000" b="1">
                <a:solidFill>
                  <a:srgbClr val="FF0000"/>
                </a:solidFill>
              </a:rPr>
              <a:t>。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AI 不能只靠一句 prompt 自由发挥，而要有纪律、有步骤、有验证。</a:t>
            </a:r>
            <a:endParaRPr lang="zh-CN" altLang="en-US" sz="900"/>
          </a:p>
        </p:txBody>
      </p:sp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833120" y="1269365"/>
            <a:ext cx="4761865" cy="2374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390" y="1186815"/>
            <a:ext cx="3610610" cy="23729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574973" y="3095625"/>
            <a:ext cx="693420" cy="27559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管资产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574973" y="2376805"/>
            <a:ext cx="693420" cy="27559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管流程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74973" y="1657985"/>
            <a:ext cx="693420" cy="27559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管行为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编程经验不足者该如何定位自己的</a:t>
            </a:r>
            <a:r>
              <a:rPr lang="zh-CN" altLang="en-US"/>
              <a:t>职责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099185" y="2754630"/>
            <a:ext cx="961263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发挥需求分析特长，把精力放在开发过程的前半程。</a:t>
            </a:r>
            <a:endParaRPr lang="zh-CN" altLang="en-US" sz="2800"/>
          </a:p>
          <a:p>
            <a:pPr algn="ctr"/>
            <a:endParaRPr lang="en-US" altLang="zh-CN" sz="2800"/>
          </a:p>
          <a:p>
            <a:pPr algn="ctr"/>
            <a:r>
              <a:rPr lang="en-US" altLang="zh-CN" sz="2800"/>
              <a:t>AI</a:t>
            </a:r>
            <a:r>
              <a:rPr lang="zh-CN" altLang="en-US" sz="2800"/>
              <a:t>编程时代的主要投入在前期准备阶段，具有丰富业务经验的人员正好发挥个人</a:t>
            </a:r>
            <a:r>
              <a:rPr lang="zh-CN" altLang="en-US" sz="2800"/>
              <a:t>特长。</a:t>
            </a:r>
            <a:endParaRPr lang="zh-CN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开发环境</a:t>
            </a:r>
            <a:r>
              <a:rPr lang="zh-CN" altLang="en-US"/>
              <a:t>准备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9280" y="934085"/>
            <a:ext cx="1139190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000"/>
              <a:t>1. 安装</a:t>
            </a:r>
            <a:r>
              <a:rPr lang="en-US" altLang="zh-CN" sz="2000"/>
              <a:t>git</a:t>
            </a:r>
            <a:r>
              <a:rPr lang="zh-CN" altLang="en-US" sz="2000"/>
              <a:t>代码库管理工具，配置用户昵称及邮箱地址</a:t>
            </a:r>
            <a:r>
              <a:rPr lang="en-US" altLang="zh-CN" sz="2000"/>
              <a:t>(</a:t>
            </a:r>
            <a:r>
              <a:rPr lang="en-US" altLang="zh-CN" sz="2000">
                <a:solidFill>
                  <a:srgbClr val="0070C0"/>
                </a:solidFill>
              </a:rPr>
              <a:t>https://git-scm.com/download/win</a:t>
            </a:r>
            <a:r>
              <a:rPr lang="en-US" altLang="zh-CN" sz="2000"/>
              <a:t>)</a:t>
            </a:r>
            <a:endParaRPr lang="zh-CN" altLang="en-US" sz="2000"/>
          </a:p>
          <a:p>
            <a:pPr lvl="1">
              <a:lnSpc>
                <a:spcPct val="2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git config --global user.name "Your Name"</a:t>
            </a:r>
            <a:endParaRPr lang="zh-CN" altLang="en-US" sz="240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git config --global user.email "your.email@example.com"</a:t>
            </a:r>
            <a:endParaRPr lang="zh-CN" altLang="en-US" sz="240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2000"/>
              <a:t>2. 安装</a:t>
            </a:r>
            <a:r>
              <a:rPr lang="en-US" altLang="zh-CN" sz="2000"/>
              <a:t>VSCode</a:t>
            </a:r>
            <a:r>
              <a:rPr lang="zh-CN" altLang="en-US" sz="2000"/>
              <a:t>集成开发环境及Markdown Preview Enhanced插件</a:t>
            </a:r>
            <a:r>
              <a:rPr lang="en-US" altLang="zh-CN" sz="2000"/>
              <a:t>(</a:t>
            </a:r>
            <a:r>
              <a:rPr lang="en-US" altLang="zh-CN" sz="2000">
                <a:solidFill>
                  <a:srgbClr val="0070C0"/>
                </a:solidFill>
              </a:rPr>
              <a:t>https://code.visualstudio.com/</a:t>
            </a:r>
            <a:r>
              <a:rPr lang="en-US" altLang="zh-CN" sz="2000"/>
              <a:t>)</a:t>
            </a:r>
            <a:endParaRPr lang="zh-CN" altLang="en-US" sz="2000"/>
          </a:p>
          <a:p>
            <a:pPr>
              <a:lnSpc>
                <a:spcPct val="200000"/>
              </a:lnSpc>
            </a:pPr>
            <a:r>
              <a:rPr lang="zh-CN" altLang="en-US" sz="2000"/>
              <a:t>3. </a:t>
            </a:r>
            <a:r>
              <a:rPr lang="zh-CN" altLang="en-US" sz="2000">
                <a:solidFill>
                  <a:schemeClr val="tx1"/>
                </a:solidFill>
              </a:rPr>
              <a:t>安装</a:t>
            </a:r>
            <a:r>
              <a:rPr lang="en-US" altLang="zh-CN" sz="2000">
                <a:solidFill>
                  <a:schemeClr val="tx1"/>
                </a:solidFill>
              </a:rPr>
              <a:t>Node.js  </a:t>
            </a:r>
            <a:r>
              <a:rPr lang="zh-CN" altLang="en-US" sz="2000">
                <a:solidFill>
                  <a:schemeClr val="tx1"/>
                </a:solidFill>
              </a:rPr>
              <a:t>（建议安装</a:t>
            </a:r>
            <a:r>
              <a:rPr lang="en-US" altLang="zh-CN" sz="2000">
                <a:solidFill>
                  <a:schemeClr val="tx1"/>
                </a:solidFill>
              </a:rPr>
              <a:t>LTS20</a:t>
            </a:r>
            <a:r>
              <a:rPr lang="zh-CN" altLang="en-US" sz="2000">
                <a:solidFill>
                  <a:schemeClr val="tx1"/>
                </a:solidFill>
              </a:rPr>
              <a:t>版本</a:t>
            </a:r>
            <a:r>
              <a:rPr lang="zh-CN" altLang="en-US" sz="2000">
                <a:solidFill>
                  <a:schemeClr val="tx1"/>
                </a:solidFill>
              </a:rPr>
              <a:t>以上）</a:t>
            </a:r>
            <a:r>
              <a:rPr lang="en-US" altLang="zh-CN" sz="2000">
                <a:solidFill>
                  <a:schemeClr val="tx1"/>
                </a:solidFill>
              </a:rPr>
              <a:t>  (</a:t>
            </a:r>
            <a:r>
              <a:rPr lang="en-US" altLang="zh-CN" sz="2000">
                <a:solidFill>
                  <a:srgbClr val="0070C0"/>
                </a:solidFill>
              </a:rPr>
              <a:t>https://nodejs.org/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endParaRPr lang="en-US" altLang="zh-CN" sz="200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2000"/>
              <a:t>4. 安装</a:t>
            </a:r>
            <a:r>
              <a:rPr lang="en-US" altLang="zh-CN" sz="2000"/>
              <a:t>Python</a:t>
            </a:r>
            <a:r>
              <a:rPr lang="zh-CN" altLang="en-US" sz="2000"/>
              <a:t>语言开发环境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（建议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3.10版本以上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2000">
                <a:solidFill>
                  <a:srgbClr val="0070C0"/>
                </a:solidFill>
                <a:sym typeface="+mn-ea"/>
              </a:rPr>
              <a:t>https://www.python.org/downloads/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/>
          </a:p>
          <a:p>
            <a:pPr>
              <a:lnSpc>
                <a:spcPct val="200000"/>
              </a:lnSpc>
            </a:pPr>
            <a:r>
              <a:rPr lang="zh-CN" altLang="en-US" sz="2000"/>
              <a:t>5. 安装</a:t>
            </a:r>
            <a:r>
              <a:rPr lang="en-US" altLang="zh-CN" sz="2000"/>
              <a:t>Java</a:t>
            </a:r>
            <a:r>
              <a:rPr lang="zh-CN" altLang="en-US" sz="2000"/>
              <a:t>语言开发环境（</a:t>
            </a:r>
            <a:r>
              <a:rPr lang="en-US" altLang="zh-CN" sz="2000"/>
              <a:t>OpenJDK</a:t>
            </a:r>
            <a:r>
              <a:rPr lang="zh-CN" altLang="en-US" sz="2000"/>
              <a:t>）</a:t>
            </a:r>
            <a:r>
              <a:rPr lang="zh-CN" altLang="en-US" sz="2000">
                <a:solidFill>
                  <a:srgbClr val="FF0000"/>
                </a:solidFill>
              </a:rPr>
              <a:t>（可选）</a:t>
            </a:r>
            <a:r>
              <a:rPr lang="en-US" altLang="zh-CN" sz="2000">
                <a:solidFill>
                  <a:schemeClr val="tx1"/>
                </a:solidFill>
              </a:rPr>
              <a:t>(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</a:rPr>
              <a:t>https://adoptium.net/temurin/releases/?version=17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endParaRPr lang="zh-CN" altLang="en-US" sz="2000"/>
          </a:p>
          <a:p>
            <a:pPr>
              <a:lnSpc>
                <a:spcPct val="200000"/>
              </a:lnSpc>
            </a:pPr>
            <a:r>
              <a:rPr lang="zh-CN" altLang="en-US" sz="2000"/>
              <a:t>6. </a:t>
            </a:r>
            <a:r>
              <a:rPr lang="zh-CN" altLang="en-US" sz="2000">
                <a:solidFill>
                  <a:schemeClr val="tx1"/>
                </a:solidFill>
              </a:rPr>
              <a:t>安装</a:t>
            </a:r>
            <a:r>
              <a:rPr lang="en-US" altLang="zh-CN" sz="2000">
                <a:solidFill>
                  <a:schemeClr val="tx1"/>
                </a:solidFill>
              </a:rPr>
              <a:t>FreePlane</a:t>
            </a:r>
            <a:r>
              <a:rPr lang="zh-CN" altLang="en-US" sz="2000">
                <a:solidFill>
                  <a:schemeClr val="tx1"/>
                </a:solidFill>
              </a:rPr>
              <a:t>思维导图软件</a:t>
            </a:r>
            <a:r>
              <a:rPr lang="en-US" altLang="zh-CN" sz="2000">
                <a:solidFill>
                  <a:schemeClr val="tx1"/>
                </a:solidFill>
              </a:rPr>
              <a:t>(</a:t>
            </a:r>
            <a:r>
              <a:rPr lang="zh-CN" altLang="en-US" sz="2000">
                <a:solidFill>
                  <a:schemeClr val="tx1"/>
                </a:solidFill>
              </a:rPr>
              <a:t>或其他支持导出</a:t>
            </a:r>
            <a:r>
              <a:rPr lang="en-US" altLang="zh-CN" sz="2000">
                <a:solidFill>
                  <a:schemeClr val="tx1"/>
                </a:solidFill>
              </a:rPr>
              <a:t>Html</a:t>
            </a:r>
            <a:r>
              <a:rPr lang="zh-CN" altLang="en-US" sz="2000">
                <a:solidFill>
                  <a:schemeClr val="tx1"/>
                </a:solidFill>
              </a:rPr>
              <a:t>或</a:t>
            </a:r>
            <a:r>
              <a:rPr lang="en-US" altLang="zh-CN" sz="2000">
                <a:solidFill>
                  <a:schemeClr val="tx1"/>
                </a:solidFill>
              </a:rPr>
              <a:t>MarkDown</a:t>
            </a:r>
            <a:r>
              <a:rPr lang="zh-CN" altLang="en-US" sz="2000">
                <a:solidFill>
                  <a:schemeClr val="tx1"/>
                </a:solidFill>
              </a:rPr>
              <a:t>格式的同类软件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endParaRPr lang="en-US" altLang="zh-CN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安装</a:t>
            </a:r>
            <a:r>
              <a:rPr lang="en-US" altLang="zh-CN">
                <a:sym typeface="+mn-ea"/>
              </a:rPr>
              <a:t>ClaudeCode</a:t>
            </a:r>
            <a:r>
              <a:rPr lang="zh-CN" altLang="en-US">
                <a:sym typeface="+mn-ea"/>
              </a:rPr>
              <a:t>及推荐</a:t>
            </a:r>
            <a:r>
              <a:rPr lang="en-US" altLang="zh-CN">
                <a:sym typeface="+mn-ea"/>
              </a:rPr>
              <a:t>Skills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89280" y="934085"/>
            <a:ext cx="11391900" cy="5793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70000"/>
              </a:lnSpc>
            </a:pPr>
            <a:r>
              <a:rPr lang="zh-CN" altLang="en-US" sz="2000"/>
              <a:t>1. 安装</a:t>
            </a:r>
            <a:r>
              <a:rPr lang="en-US" altLang="zh-CN" sz="2000">
                <a:sym typeface="+mn-ea"/>
              </a:rPr>
              <a:t>ClaudeCode(</a:t>
            </a:r>
            <a:r>
              <a:rPr lang="zh-CN" altLang="en-US" sz="2000">
                <a:sym typeface="+mn-ea"/>
              </a:rPr>
              <a:t>最新版本不支持第三方</a:t>
            </a:r>
            <a:r>
              <a:rPr lang="en-US" altLang="zh-CN" sz="2000">
                <a:sym typeface="+mn-ea"/>
              </a:rPr>
              <a:t>API</a:t>
            </a:r>
            <a:r>
              <a:rPr lang="zh-CN" altLang="en-US" sz="2000">
                <a:sym typeface="+mn-ea"/>
              </a:rPr>
              <a:t>接入</a:t>
            </a:r>
            <a:r>
              <a:rPr lang="en-US" altLang="zh-CN" sz="2000">
                <a:sym typeface="+mn-ea"/>
              </a:rPr>
              <a:t>)</a:t>
            </a:r>
            <a:endParaRPr lang="zh-CN" altLang="en-US" sz="2000"/>
          </a:p>
          <a:p>
            <a:pPr lvl="1">
              <a:lnSpc>
                <a:spcPct val="1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npm install -g @anthropic-ai/claude-code@2.1.152</a:t>
            </a:r>
            <a:endParaRPr lang="zh-CN" altLang="en-US" sz="240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000"/>
              <a:t>2. 配置</a:t>
            </a:r>
            <a:r>
              <a:rPr lang="en-US" altLang="zh-CN" sz="2000"/>
              <a:t>APIKey</a:t>
            </a: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安装</a:t>
            </a:r>
            <a:r>
              <a:rPr lang="en-US" altLang="zh-CN" sz="2000"/>
              <a:t>Skill</a:t>
            </a:r>
            <a:r>
              <a:rPr lang="zh-CN" altLang="en-US" sz="2000"/>
              <a:t>（安装后重启</a:t>
            </a:r>
            <a:r>
              <a:rPr lang="en-US" altLang="zh-CN" sz="2000"/>
              <a:t>claude</a:t>
            </a:r>
            <a:r>
              <a:rPr lang="zh-CN" altLang="en-US" sz="2000"/>
              <a:t>才能生效）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zh-CN" altLang="en-US" sz="2000"/>
              <a:t>/plugin marketplace add https://github.com/anthropics/skills</a:t>
            </a:r>
            <a:endParaRPr lang="zh-CN" altLang="en-US" sz="2000"/>
          </a:p>
          <a:p>
            <a:pPr>
              <a:lnSpc>
                <a:spcPct val="130000"/>
              </a:lnSpc>
            </a:pPr>
            <a:r>
              <a:rPr lang="zh-CN" altLang="en-US" sz="2000"/>
              <a:t>/plugin install document-skills@anthropic-agent-skills</a:t>
            </a:r>
            <a:endParaRPr lang="zh-CN" altLang="en-US" sz="2000"/>
          </a:p>
          <a:p>
            <a:pPr>
              <a:lnSpc>
                <a:spcPct val="130000"/>
              </a:lnSpc>
            </a:pPr>
            <a:r>
              <a:rPr lang="en-US" altLang="zh-CN" sz="2000">
                <a:solidFill>
                  <a:schemeClr val="tx1"/>
                </a:solidFill>
              </a:rPr>
              <a:t>/plugin marketplace add obra/superpowers-marketplace</a:t>
            </a:r>
            <a:endParaRPr lang="en-US" altLang="zh-CN" sz="200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000">
                <a:solidFill>
                  <a:schemeClr val="tx1"/>
                </a:solidFill>
              </a:rPr>
              <a:t>/plugin install superpowers@superpowers-marketplace</a:t>
            </a:r>
            <a:endParaRPr lang="en-US" altLang="zh-CN" sz="200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345" y="2349500"/>
            <a:ext cx="11724640" cy="21583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C:/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Windows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/Users/xxxx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/.claude/settings.json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{  "env": {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  "ANTHROPIC_AUTH_TOKEN": "sk-xxxxxxxxxxxxxxxxx",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  "ANTHROPIC_BASE_URL": "https://api.deepseek.com/anthropic",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  "ANTHROPIC_MODEL": "deepseek-v4-pro[1m]",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  "API_TIMEOUT_MS": "3000000",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  "CLAUDE_CODE_DISABLE_NONESSENTIAL_TRAFFIC": "1"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  }  }</a:t>
            </a:r>
            <a:endParaRPr lang="en-US" altLang="zh-CN" sz="1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04280" y="3106420"/>
            <a:ext cx="582549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"ANTHROPIC_DEFAULT_OPUS_MODEL": "deepseek-v4-pro[1m]",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"ANTHROPIC_DEFAULT_SONNET_MODEL": "deepseek-v4-pro[1m]",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"ANTHROPIC_DEFAULT_HAIKU_MODEL": "deepseek-v4-flash",</a:t>
            </a:r>
            <a:endParaRPr lang="en-US" altLang="zh-CN" sz="1400"/>
          </a:p>
          <a:p>
            <a:pPr>
              <a:lnSpc>
                <a:spcPct val="120000"/>
              </a:lnSpc>
            </a:pPr>
            <a:r>
              <a:rPr lang="en-US" altLang="zh-CN" sz="1400">
                <a:sym typeface="+mn-ea"/>
              </a:rPr>
              <a:t>"CLAUDE_CODE_SUBAGENT_MODEL": "deepseek-v4-flash",</a:t>
            </a:r>
            <a:endParaRPr lang="en-US" altLang="zh-CN" sz="1400">
              <a:sym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295140" y="3241675"/>
            <a:ext cx="2049145" cy="856615"/>
          </a:xfrm>
          <a:custGeom>
            <a:avLst/>
            <a:gdLst>
              <a:gd name="connsiteX0" fmla="*/ 0 w 3227"/>
              <a:gd name="connsiteY0" fmla="*/ 865 h 1349"/>
              <a:gd name="connsiteX1" fmla="*/ 3204 w 3227"/>
              <a:gd name="connsiteY1" fmla="*/ 0 h 1349"/>
              <a:gd name="connsiteX2" fmla="*/ 3227 w 3227"/>
              <a:gd name="connsiteY2" fmla="*/ 1349 h 1349"/>
              <a:gd name="connsiteX3" fmla="*/ 0 w 3227"/>
              <a:gd name="connsiteY3" fmla="*/ 865 h 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7" h="1349">
                <a:moveTo>
                  <a:pt x="0" y="865"/>
                </a:moveTo>
                <a:lnTo>
                  <a:pt x="3204" y="0"/>
                </a:lnTo>
                <a:lnTo>
                  <a:pt x="3227" y="1349"/>
                </a:lnTo>
                <a:lnTo>
                  <a:pt x="0" y="865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实践项目选题（鼓励自拟</a:t>
            </a:r>
            <a:r>
              <a:rPr lang="zh-CN" altLang="en-US"/>
              <a:t>题目）</a:t>
            </a: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138555" y="1890395"/>
            <a:ext cx="1613535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邮件管理</a:t>
            </a:r>
            <a:endParaRPr lang="zh-CN" altLang="en-US"/>
          </a:p>
          <a:p>
            <a:pPr algn="ctr"/>
            <a:r>
              <a:rPr lang="zh-CN" altLang="en-US"/>
              <a:t>大师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871595" y="1890395"/>
            <a:ext cx="1587500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人脸识别</a:t>
            </a:r>
            <a:endParaRPr lang="zh-CN" altLang="en-US"/>
          </a:p>
          <a:p>
            <a:pPr algn="ctr"/>
            <a:r>
              <a:rPr lang="zh-CN" altLang="en-US"/>
              <a:t>门禁</a:t>
            </a:r>
            <a:r>
              <a:rPr lang="zh-CN" altLang="en-US"/>
              <a:t>及打卡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578600" y="1890395"/>
            <a:ext cx="1613535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设计文件格式检查</a:t>
            </a:r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9311640" y="1890395"/>
            <a:ext cx="1613535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数据报表</a:t>
            </a:r>
            <a:endParaRPr lang="zh-CN" altLang="en-US"/>
          </a:p>
          <a:p>
            <a:pPr algn="ctr"/>
            <a:r>
              <a:rPr lang="zh-CN" altLang="en-US"/>
              <a:t>辅助工具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37300" y="3482340"/>
            <a:ext cx="2520000" cy="2532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p>
            <a:r>
              <a:rPr lang="zh-CN" altLang="en-US"/>
              <a:t>本项目为要开发一个Word文档的样式检查工具，要支持用户管理检查规则。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057640" y="3482340"/>
            <a:ext cx="2520000" cy="2532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p>
            <a:r>
              <a:rPr lang="zh-CN" altLang="en-US"/>
              <a:t>本项目为要开发一个从多个Excel文件的多个</a:t>
            </a:r>
            <a:r>
              <a:rPr lang="en-US" altLang="zh-CN"/>
              <a:t>sheet</a:t>
            </a:r>
            <a:r>
              <a:rPr lang="zh-CN" altLang="en-US"/>
              <a:t>提取数据填充到Word模板，生成数据报告的日常办公辅助工具。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0090" y="3482340"/>
            <a:ext cx="2520000" cy="2532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p>
            <a:r>
              <a:rPr lang="zh-CN" altLang="en-US"/>
              <a:t>本项目为实现一个邮件管理的工具，支持对用户多年的邮件集中归类管理。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440430" y="3482340"/>
            <a:ext cx="2520000" cy="2532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本项目要实现一个人脸识别的系统，当识别出用户的身份后，显示识别成功，发送指令指挥相应的设备动作，比如开门或打开道闸。或者进行用户打卡记录等操作。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编程三板斧（</a:t>
            </a:r>
            <a:r>
              <a:rPr lang="zh-CN" altLang="en-US"/>
              <a:t>一）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7700" y="1375410"/>
            <a:ext cx="1106233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/>
              <a:t>1. 准备CLAUDE.md文件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2. 启动claude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3. </a:t>
            </a:r>
            <a:r>
              <a:rPr lang="zh-CN" altLang="en-US" sz="2400" b="1">
                <a:solidFill>
                  <a:srgbClr val="FF0000"/>
                </a:solidFill>
              </a:rPr>
              <a:t>初始化项目目录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4. 通过头脑风暴整理原始</a:t>
            </a:r>
            <a:r>
              <a:rPr lang="zh-CN" altLang="en-US" sz="2400"/>
              <a:t>业务需求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en-US" altLang="zh-CN" sz="2400"/>
              <a:t>5. </a:t>
            </a:r>
            <a:r>
              <a:rPr lang="zh-CN" altLang="en-US" sz="2400" i="1"/>
              <a:t>通过</a:t>
            </a:r>
            <a:r>
              <a:rPr lang="en-US" altLang="zh-CN" sz="2400" i="1"/>
              <a:t>AI</a:t>
            </a:r>
            <a:r>
              <a:rPr lang="zh-CN" altLang="en-US" sz="2400" i="1"/>
              <a:t>探索相关业务知识</a:t>
            </a:r>
            <a:r>
              <a:rPr lang="en-US" altLang="zh-CN" sz="2400" i="1"/>
              <a:t>(</a:t>
            </a:r>
            <a:r>
              <a:rPr lang="zh-CN" altLang="en-US" sz="2400" i="1"/>
              <a:t>循序渐进</a:t>
            </a:r>
            <a:r>
              <a:rPr lang="en-US" altLang="zh-CN" sz="2400" i="1"/>
              <a:t>)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     5.1 </a:t>
            </a:r>
            <a:r>
              <a:rPr lang="zh-CN" altLang="en-US">
                <a:solidFill>
                  <a:srgbClr val="FF0000"/>
                </a:solidFill>
              </a:rPr>
              <a:t>如何获取</a:t>
            </a:r>
            <a:r>
              <a:rPr lang="en-US" altLang="zh-CN">
                <a:solidFill>
                  <a:srgbClr val="FF0000"/>
                </a:solidFill>
              </a:rPr>
              <a:t>word</a:t>
            </a:r>
            <a:r>
              <a:rPr lang="zh-CN" altLang="en-US">
                <a:solidFill>
                  <a:srgbClr val="FF0000"/>
                </a:solidFill>
              </a:rPr>
              <a:t>文档中所有的图片标识？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          </a:t>
            </a:r>
            <a:r>
              <a:rPr lang="zh-CN" altLang="en-US">
                <a:solidFill>
                  <a:srgbClr val="FF0000"/>
                </a:solidFill>
              </a:rPr>
              <a:t>把刚才的分析保存为</a:t>
            </a:r>
            <a:r>
              <a:rPr lang="zh-CN" altLang="en-US">
                <a:solidFill>
                  <a:srgbClr val="FF0000"/>
                </a:solidFill>
              </a:rPr>
              <a:t>一篇开发笔记。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    5.2 </a:t>
            </a:r>
            <a:r>
              <a:rPr lang="zh-CN" altLang="en-US">
                <a:solidFill>
                  <a:srgbClr val="FF0000"/>
                </a:solidFill>
              </a:rPr>
              <a:t>如何获取指定段落归属的所有上级标题？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         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把刚才的分析保存为一篇开发笔记，我还有一些其他想法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...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。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/>
              <a:t>6</a:t>
            </a:r>
            <a:r>
              <a:rPr lang="zh-CN" altLang="en-US" sz="2400"/>
              <a:t>. 完善并导出思维导图到</a:t>
            </a:r>
            <a:r>
              <a:rPr lang="en-US" altLang="zh-CN" sz="2400"/>
              <a:t>BRS</a:t>
            </a:r>
            <a:r>
              <a:rPr lang="zh-CN" altLang="en-US" sz="2400"/>
              <a:t>目录</a:t>
            </a:r>
            <a:r>
              <a:rPr lang="en-US" altLang="zh-CN" sz="2400"/>
              <a:t>(</a:t>
            </a:r>
            <a:r>
              <a:rPr lang="zh-CN" altLang="en-US" sz="2400"/>
              <a:t>命名为：</a:t>
            </a:r>
            <a:r>
              <a:rPr lang="zh-CN" altLang="en-US" sz="2400">
                <a:sym typeface="+mn-ea"/>
              </a:rPr>
              <a:t>业务需求头脑风暴</a:t>
            </a:r>
            <a:r>
              <a:rPr lang="en-US" altLang="zh-CN" sz="2400">
                <a:sym typeface="+mn-ea"/>
              </a:rPr>
              <a:t>.md</a:t>
            </a:r>
            <a:r>
              <a:rPr lang="en-US" altLang="zh-CN" sz="2400"/>
              <a:t>)</a:t>
            </a:r>
            <a:endParaRPr lang="en-US" altLang="zh-CN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编程三板斧（</a:t>
            </a:r>
            <a:r>
              <a:rPr lang="zh-CN" altLang="en-US"/>
              <a:t>二）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8190" y="1189990"/>
            <a:ext cx="10294620" cy="5046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7. 审查业务需求头脑风暴，检查有哪些需求没有考虑清楚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8. 针对这些问题整理一份业务需求问题澄清清单，保存到业务需求目录下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9. 对需要澄清问题进行具体分析和建议，保存为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业务需求问题分析及建议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10. 对应业务需求头脑风暴、需求问题澄清清单，审查业务需求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问题</a:t>
            </a:r>
            <a:r>
              <a:rPr lang="zh-CN" altLang="en-US" sz="2000" b="1">
                <a:solidFill>
                  <a:srgbClr val="FF0000"/>
                </a:solidFill>
              </a:rPr>
              <a:t>分析及建议是否缺失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11. 根据业务需求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问题</a:t>
            </a:r>
            <a:r>
              <a:rPr lang="zh-CN" altLang="en-US" sz="2000" b="1">
                <a:solidFill>
                  <a:srgbClr val="FF0000"/>
                </a:solidFill>
              </a:rPr>
              <a:t>分析及建议，用AskAndRequest方式和我进行确认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12. 将需求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问题</a:t>
            </a:r>
            <a:r>
              <a:rPr lang="zh-CN" altLang="en-US" sz="2000" b="1">
                <a:solidFill>
                  <a:srgbClr val="FF0000"/>
                </a:solidFill>
              </a:rPr>
              <a:t>分析</a:t>
            </a:r>
            <a:r>
              <a:rPr lang="zh-CN" altLang="en-US" sz="2000" b="1">
                <a:solidFill>
                  <a:srgbClr val="FF0000"/>
                </a:solidFill>
              </a:rPr>
              <a:t>及建议确认过程形成业务需求问题澄清讨论确认书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13. 再次审查业务需求问题分析</a:t>
            </a:r>
            <a:r>
              <a:rPr lang="zh-CN" altLang="en-US" sz="2000" b="1">
                <a:solidFill>
                  <a:srgbClr val="FF0000"/>
                </a:solidFill>
              </a:rPr>
              <a:t>及建议文档，看看还有什么不清楚的地方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14. 根据业务需求头脑风暴和业务需求问题分析</a:t>
            </a:r>
            <a:r>
              <a:rPr lang="zh-CN" altLang="en-US" sz="2000" b="1">
                <a:solidFill>
                  <a:srgbClr val="FF0000"/>
                </a:solidFill>
              </a:rPr>
              <a:t>及建议，编写业务需求规格说明书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15. 审查业务需求规格说明书，检查是否还有不清楚的</a:t>
            </a:r>
            <a:r>
              <a:rPr lang="zh-CN" altLang="en-US" sz="2000" b="1">
                <a:solidFill>
                  <a:srgbClr val="FF0000"/>
                </a:solidFill>
              </a:rPr>
              <a:t>内容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16. 将需求审查发现的问题及补充和修正内容，总结为业务需求评审记录文档。</a:t>
            </a:r>
            <a:endParaRPr lang="zh-CN" altLang="en-US" sz="2000" b="1">
              <a:solidFill>
                <a:srgbClr val="FF0000"/>
              </a:solidFill>
            </a:endParaRPr>
          </a:p>
          <a:p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编程三板斧（</a:t>
            </a:r>
            <a:r>
              <a:rPr lang="zh-CN" altLang="en-US"/>
              <a:t>三）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8335" y="1124585"/>
            <a:ext cx="11543665" cy="5702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17. 根据业务需求</a:t>
            </a:r>
            <a:r>
              <a:rPr lang="zh-CN" altLang="en-US" sz="2000" b="1">
                <a:solidFill>
                  <a:srgbClr val="FF0000"/>
                </a:solidFill>
              </a:rPr>
              <a:t>规格说明书，编写软件需求规格说明书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18. 对照业务需求规格说明书，审查软件需求规格说明书是否存在偏离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19. 将审查发现的问题及补充和修正内容，总结为软件需求规格说明书评审记录文档。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6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20. 根据业务需求规格说明书</a:t>
            </a:r>
            <a:r>
              <a:rPr lang="zh-CN" altLang="en-US" sz="2000" b="1">
                <a:solidFill>
                  <a:srgbClr val="FF0000"/>
                </a:solidFill>
              </a:rPr>
              <a:t>和软件需求规格说明书生成软件设计说明书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21. 对照业务需求</a:t>
            </a:r>
            <a:r>
              <a:rPr lang="zh-CN" altLang="en-US" sz="2000" b="1">
                <a:solidFill>
                  <a:srgbClr val="FF0000"/>
                </a:solidFill>
              </a:rPr>
              <a:t>规格说明书和软件需求规格说明书，审查软件设计说明书是否存在偏离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22. 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将审查发现的问题及补充和修正内容，总结为软件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设计说明书评审记录文档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6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</a:t>
            </a:r>
            <a:r>
              <a:rPr lang="en-US" altLang="zh-CN" sz="2000" b="1">
                <a:solidFill>
                  <a:srgbClr val="FF0000"/>
                </a:solidFill>
              </a:rPr>
              <a:t>3</a:t>
            </a:r>
            <a:r>
              <a:rPr lang="zh-CN" altLang="en-US" sz="2000" b="1">
                <a:solidFill>
                  <a:srgbClr val="FF0000"/>
                </a:solidFill>
              </a:rPr>
              <a:t>. </a:t>
            </a:r>
            <a:r>
              <a:rPr lang="zh-CN" altLang="en-US" b="1">
                <a:solidFill>
                  <a:srgbClr val="FF0000"/>
                </a:solidFill>
              </a:rPr>
              <a:t>根据业务需求规格说明书、软件需求规格说明书和软件设计说明书，编写测试用例文档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</a:t>
            </a:r>
            <a:r>
              <a:rPr lang="en-US" altLang="zh-CN" sz="2000" b="1">
                <a:solidFill>
                  <a:srgbClr val="FF0000"/>
                </a:solidFill>
              </a:rPr>
              <a:t>4</a:t>
            </a:r>
            <a:r>
              <a:rPr lang="zh-CN" altLang="en-US" sz="2000" b="1">
                <a:solidFill>
                  <a:srgbClr val="FF0000"/>
                </a:solidFill>
              </a:rPr>
              <a:t>. </a:t>
            </a:r>
            <a:r>
              <a:rPr lang="zh-CN" altLang="en-US" b="1">
                <a:solidFill>
                  <a:srgbClr val="FF0000"/>
                </a:solidFill>
              </a:rPr>
              <a:t>对照业务需求规格说明书、软件需求规格说明书和软件设计说明书，审查测试用例文档是否存在偏离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25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将审查发现的问题及补充和修正内容，总结</a:t>
            </a:r>
            <a:r>
              <a:rPr lang="zh-CN" altLang="en-US" sz="2000" b="1">
                <a:solidFill>
                  <a:srgbClr val="FF0000"/>
                </a:solidFill>
              </a:rPr>
              <a:t>为测试用例评审记录</a:t>
            </a:r>
            <a:r>
              <a:rPr lang="zh-CN" altLang="en-US" sz="2000" b="1">
                <a:solidFill>
                  <a:srgbClr val="FF0000"/>
                </a:solidFill>
              </a:rPr>
              <a:t>文档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6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</a:t>
            </a:r>
            <a:r>
              <a:rPr lang="en-US" altLang="zh-CN" sz="2000" b="1">
                <a:solidFill>
                  <a:srgbClr val="FF0000"/>
                </a:solidFill>
              </a:rPr>
              <a:t>6</a:t>
            </a:r>
            <a:r>
              <a:rPr lang="zh-CN" altLang="en-US" sz="2000" b="1">
                <a:solidFill>
                  <a:srgbClr val="FF0000"/>
                </a:solidFill>
              </a:rPr>
              <a:t>. 根据软件设计说明书和测试文档，编写开发、测试及生产环境准备手册，保存到运维文档目录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6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2</a:t>
            </a:r>
            <a:r>
              <a:rPr lang="en-US" altLang="zh-CN" sz="2000" b="1">
                <a:solidFill>
                  <a:srgbClr val="FF0000"/>
                </a:solidFill>
              </a:rPr>
              <a:t>7</a:t>
            </a:r>
            <a:r>
              <a:rPr lang="zh-CN" altLang="en-US" sz="2000" b="1">
                <a:solidFill>
                  <a:srgbClr val="FF0000"/>
                </a:solidFill>
              </a:rPr>
              <a:t>. </a:t>
            </a:r>
            <a:r>
              <a:rPr lang="zh-CN" altLang="en-US" sz="1600" b="1">
                <a:solidFill>
                  <a:srgbClr val="FF0000"/>
                </a:solidFill>
              </a:rPr>
              <a:t>参考业务需求规格说明书、软件需求规格说明书、软件设计说明书和测试用例文档，制定详细的代码编写计划</a:t>
            </a:r>
            <a:endParaRPr lang="zh-CN" altLang="en-US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28. </a:t>
            </a:r>
            <a:r>
              <a:rPr lang="en-US" altLang="zh-CN" sz="1600" b="1">
                <a:solidFill>
                  <a:srgbClr val="FF0000"/>
                </a:solidFill>
              </a:rPr>
              <a:t>对照业务需求规范说明书、软件需求规格说明书、软件设计说明书和测试用例文档，审查代码编写计划是否有缺</a:t>
            </a:r>
            <a:r>
              <a:rPr lang="zh-CN" altLang="en-US" sz="1600" b="1">
                <a:solidFill>
                  <a:srgbClr val="FF0000"/>
                </a:solidFill>
              </a:rPr>
              <a:t>失偏离</a:t>
            </a:r>
            <a:endParaRPr lang="en-US" altLang="zh-CN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29. </a:t>
            </a:r>
            <a:r>
              <a:rPr lang="zh-CN" altLang="en-US" sz="2000" b="1">
                <a:solidFill>
                  <a:srgbClr val="FF0000"/>
                </a:solidFill>
              </a:rPr>
              <a:t>开始执行代码编写计划，每个阶段完成后，都记着提交代码库</a:t>
            </a:r>
            <a:endParaRPr lang="zh-CN" altLang="en-US" sz="20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FF0000"/>
                </a:solidFill>
              </a:rPr>
              <a:t>30. </a:t>
            </a:r>
            <a:r>
              <a:rPr lang="zh-CN" altLang="en-US" sz="2000" b="1">
                <a:solidFill>
                  <a:srgbClr val="FF0000"/>
                </a:solidFill>
              </a:rPr>
              <a:t>对照软件设计说明书，审查代码是否都实现</a:t>
            </a:r>
            <a:r>
              <a:rPr lang="zh-CN" altLang="en-US" sz="2000" b="1">
                <a:solidFill>
                  <a:srgbClr val="FF0000"/>
                </a:solidFill>
              </a:rPr>
              <a:t>完毕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CLAUDE.md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4675" y="1181100"/>
            <a:ext cx="5188585" cy="56311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 项目概述</a:t>
            </a:r>
            <a:endParaRPr lang="zh-CN" altLang="en-US"/>
          </a:p>
          <a:p>
            <a:r>
              <a:rPr lang="zh-CN" altLang="en-US"/>
              <a:t>该项目是开发一个</a:t>
            </a:r>
            <a:r>
              <a:rPr lang="en-US" altLang="zh-CN"/>
              <a:t>XXXXXXXX</a:t>
            </a:r>
            <a:r>
              <a:rPr lang="zh-CN" altLang="en-US"/>
              <a:t>软件。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 目录结构</a:t>
            </a:r>
            <a:endParaRPr lang="zh-CN" altLang="en-US"/>
          </a:p>
          <a:p>
            <a:r>
              <a:rPr lang="zh-CN" altLang="en-US"/>
              <a:t>  --src #项目源代码</a:t>
            </a:r>
            <a:endParaRPr lang="zh-CN" altLang="en-US"/>
          </a:p>
          <a:p>
            <a:r>
              <a:rPr lang="zh-CN" altLang="en-US"/>
              <a:t>  --build #编译后的代码</a:t>
            </a:r>
            <a:endParaRPr lang="zh-CN" altLang="en-US"/>
          </a:p>
          <a:p>
            <a:r>
              <a:rPr lang="zh-CN" altLang="en-US"/>
              <a:t>  --tools #工具软件目录</a:t>
            </a:r>
            <a:endParaRPr lang="zh-CN" altLang="en-US"/>
          </a:p>
          <a:p>
            <a:r>
              <a:rPr lang="zh-CN" altLang="en-US"/>
              <a:t>  --doc #项目文档</a:t>
            </a:r>
            <a:endParaRPr lang="zh-CN" altLang="en-US"/>
          </a:p>
          <a:p>
            <a:r>
              <a:rPr lang="zh-CN" altLang="en-US"/>
              <a:t>    |--BRS #业务需求文档</a:t>
            </a:r>
            <a:endParaRPr lang="zh-CN" altLang="en-US"/>
          </a:p>
          <a:p>
            <a:r>
              <a:rPr lang="zh-CN" altLang="en-US"/>
              <a:t>    |--SRS #软件需求文档</a:t>
            </a:r>
            <a:endParaRPr lang="zh-CN" altLang="en-US"/>
          </a:p>
          <a:p>
            <a:r>
              <a:rPr lang="zh-CN" altLang="en-US"/>
              <a:t>    |--RCR #需求变更请求</a:t>
            </a:r>
            <a:endParaRPr lang="zh-CN" altLang="en-US"/>
          </a:p>
          <a:p>
            <a:r>
              <a:rPr lang="zh-CN" altLang="en-US"/>
              <a:t>    |--SDD #软件设计文档</a:t>
            </a:r>
            <a:endParaRPr lang="zh-CN" altLang="en-US"/>
          </a:p>
          <a:p>
            <a:r>
              <a:rPr lang="zh-CN" altLang="en-US"/>
              <a:t>    |--T</a:t>
            </a:r>
            <a:r>
              <a:rPr lang="en-US" altLang="zh-CN"/>
              <a:t>CD</a:t>
            </a:r>
            <a:r>
              <a:rPr lang="zh-CN" altLang="en-US"/>
              <a:t> #测试用例文档</a:t>
            </a:r>
            <a:endParaRPr lang="zh-CN" altLang="en-US"/>
          </a:p>
          <a:p>
            <a:r>
              <a:rPr lang="zh-CN" altLang="en-US">
                <a:sym typeface="+mn-ea"/>
              </a:rPr>
              <a:t>    |--RPT #软件测试报告目录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|--OPS #软件运维文档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|--</a:t>
            </a:r>
            <a:r>
              <a:rPr lang="zh-CN" altLang="en-US">
                <a:sym typeface="+mn-ea"/>
              </a:rPr>
              <a:t>BUG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#软件bug修复文档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>
                <a:sym typeface="+mn-ea"/>
              </a:rPr>
              <a:t>    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|--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202604(根据当前月份调整)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/>
              <a:t>    |--note #开发笔记</a:t>
            </a:r>
            <a:endParaRPr lang="zh-CN" altLang="en-US"/>
          </a:p>
          <a:p>
            <a:r>
              <a:rPr lang="zh-CN" altLang="en-US"/>
              <a:t>    |--ref  #参考文档</a:t>
            </a:r>
            <a:endParaRPr lang="zh-CN" altLang="en-US"/>
          </a:p>
          <a:p>
            <a:r>
              <a:rPr lang="zh-CN" altLang="en-US"/>
              <a:t>    |--plan #编码实现计划文档目录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79845" y="1181100"/>
            <a:ext cx="5188585" cy="56311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noAutofit/>
          </a:bodyPr>
          <a:p>
            <a:r>
              <a:rPr lang="zh-CN" altLang="en-US"/>
              <a:t># 项目架构</a:t>
            </a:r>
            <a:endParaRPr lang="zh-CN" altLang="en-US"/>
          </a:p>
          <a:p>
            <a:r>
              <a:rPr lang="zh-CN" altLang="en-US"/>
              <a:t>1. 这是一个用python开发的桌面程序。</a:t>
            </a:r>
            <a:endParaRPr lang="zh-CN" altLang="en-US"/>
          </a:p>
          <a:p>
            <a:r>
              <a:rPr lang="zh-CN" altLang="en-US"/>
              <a:t>2. 本项目数据库采用sqlite。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 注意事项</a:t>
            </a:r>
            <a:endParaRPr lang="zh-CN" altLang="en-US"/>
          </a:p>
          <a:p>
            <a:r>
              <a:rPr lang="zh-CN" altLang="en-US"/>
              <a:t>1. 如果当前项目的根目录没有代码库，则自动创建一个代码库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每次在进入等待我输入指令状态前，如果项目的文件有变化，记着提交代码库，提交信息优先使用中文。对于不是你自己创建的文件，要询问我是否添加到代码库。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. 每次压缩会话后，记着重新加载本文件。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4. 代码库提交时，去掉"Co-Authored-By: Claude Opus"等信息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. 对开发笔记和编码实现计划等文档，命名中开头要包含日期信息，格式为YYYY-mm-dd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4364</Words>
  <Application>WPS 演示</Application>
  <PresentationFormat>宽屏</PresentationFormat>
  <Paragraphs>289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黑体</vt:lpstr>
      <vt:lpstr>Arial Black</vt:lpstr>
      <vt:lpstr>微软雅黑</vt:lpstr>
      <vt:lpstr>Arial Unicode MS</vt:lpstr>
      <vt:lpstr>Office 主题​​</vt:lpstr>
      <vt:lpstr>AI编程实战培训</vt:lpstr>
      <vt:lpstr>瀑布式编程</vt:lpstr>
      <vt:lpstr>软件开发全套输出文档</vt:lpstr>
      <vt:lpstr>AI编程大模型是什么？</vt:lpstr>
      <vt:lpstr>软件开发的核心工作</vt:lpstr>
      <vt:lpstr>AI编程的流派</vt:lpstr>
      <vt:lpstr>编程经验不足者该如何定位自己的职责</vt:lpstr>
      <vt:lpstr>开发环境准备</vt:lpstr>
      <vt:lpstr>安装ClaudeCode及推荐Skills</vt:lpstr>
      <vt:lpstr>实践项目选题（鼓励自拟题目）</vt:lpstr>
      <vt:lpstr>AI编程三板斧（一）</vt:lpstr>
      <vt:lpstr>AI编程三板斧（二）</vt:lpstr>
      <vt:lpstr>AI编程三板斧（三）</vt:lpstr>
      <vt:lpstr>CLAUDE.md示例</vt:lpstr>
    </vt:vector>
  </TitlesOfParts>
  <Company>中讯邮电咨询设计院有限公司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宋齐军</dc:creator>
  <cp:lastModifiedBy> </cp:lastModifiedBy>
  <cp:revision>57</cp:revision>
  <dcterms:created xsi:type="dcterms:W3CDTF">2019-09-19T02:01:00Z</dcterms:created>
  <dcterms:modified xsi:type="dcterms:W3CDTF">2026-06-29T03:43:40Z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120370C4841B410E8E7A885929C762D2</vt:lpwstr>
  </property>
</Properties>
</file>